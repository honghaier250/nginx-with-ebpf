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9" r:id="rId4"/>
    <p:sldId id="268" r:id="rId5"/>
    <p:sldId id="277" r:id="rId6"/>
    <p:sldId id="272" r:id="rId7"/>
    <p:sldId id="273" r:id="rId8"/>
    <p:sldId id="283" r:id="rId9"/>
    <p:sldId id="284" r:id="rId10"/>
    <p:sldId id="285" r:id="rId11"/>
    <p:sldId id="275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8458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4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9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 l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image" Target="../media/image4.png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5.png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2.png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4.xml"/><Relationship Id="rId5" Type="http://schemas.openxmlformats.org/officeDocument/2006/relationships/image" Target="../media/image6.png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2.png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8.xml"/><Relationship Id="rId5" Type="http://schemas.openxmlformats.org/officeDocument/2006/relationships/image" Target="../media/image7.png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2.png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1.xml"/><Relationship Id="rId4" Type="http://schemas.openxmlformats.org/officeDocument/2006/relationships/image" Target="../media/image8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282825" y="2570480"/>
            <a:ext cx="762635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 b="1" dirty="0">
                <a:gradFill>
                  <a:gsLst>
                    <a:gs pos="17000">
                      <a:srgbClr val="0B5673"/>
                    </a:gs>
                    <a:gs pos="100000">
                      <a:srgbClr val="0B5673"/>
                    </a:gs>
                  </a:gsLst>
                  <a:lin ang="0" scaled="0"/>
                </a:gradFill>
                <a:latin typeface="微软雅黑" panose="020B0703020204020201" charset="-122"/>
                <a:ea typeface="微软雅黑" panose="020B0703020204020201" charset="-122"/>
                <a:cs typeface="方正汉真广标简体" panose="02000000000000000000" charset="-122"/>
                <a:sym typeface="微软雅黑" panose="020B0703020204020201" charset="-122"/>
              </a:rPr>
              <a:t>基于eBPF的Nginx可观测性实践</a:t>
            </a:r>
            <a:endParaRPr lang="zh-CN" altLang="en-US" sz="3200" b="1" dirty="0">
              <a:gradFill>
                <a:gsLst>
                  <a:gs pos="17000">
                    <a:srgbClr val="0B5673"/>
                  </a:gs>
                  <a:gs pos="100000">
                    <a:srgbClr val="0B5673"/>
                  </a:gs>
                </a:gsLst>
                <a:lin ang="0" scaled="0"/>
              </a:gradFill>
              <a:latin typeface="微软雅黑" panose="020B0703020204020201" charset="-122"/>
              <a:ea typeface="微软雅黑" panose="020B0703020204020201" charset="-122"/>
              <a:cs typeface="方正汉真广标简体" panose="02000000000000000000" charset="-122"/>
              <a:sym typeface="微软雅黑" panose="020B0703020204020201" charset="-122"/>
            </a:endParaRPr>
          </a:p>
          <a:p>
            <a:pPr algn="dist"/>
            <a:r>
              <a:rPr lang="en-US" altLang="zh-CN" sz="3200" b="1">
                <a:solidFill>
                  <a:schemeClr val="tx1">
                    <a:lumMod val="85000"/>
                    <a:lumOff val="15000"/>
                    <a:alpha val="19000"/>
                  </a:schemeClr>
                </a:solidFill>
                <a:latin typeface="+mn-ea"/>
                <a:sym typeface="+mn-ea"/>
              </a:rPr>
              <a:t>    </a:t>
            </a:r>
            <a:r>
              <a:rPr lang="en-US" altLang="zh-CN" sz="2400" b="1">
                <a:solidFill>
                  <a:schemeClr val="tx1">
                    <a:lumMod val="85000"/>
                    <a:lumOff val="15000"/>
                    <a:alpha val="19000"/>
                  </a:schemeClr>
                </a:solidFill>
                <a:latin typeface="+mn-ea"/>
                <a:sym typeface="+mn-ea"/>
              </a:rPr>
              <a:t>——从请求追踪到性能瓶颈定位</a:t>
            </a:r>
            <a:endParaRPr lang="en-US" altLang="zh-CN" sz="3200" b="1">
              <a:solidFill>
                <a:schemeClr val="tx1">
                  <a:lumMod val="85000"/>
                  <a:lumOff val="15000"/>
                  <a:alpha val="19000"/>
                </a:schemeClr>
              </a:solidFill>
              <a:latin typeface="+mn-ea"/>
            </a:endParaRPr>
          </a:p>
          <a:p>
            <a:pPr algn="ctr"/>
            <a:br>
              <a:rPr lang="zh-CN" altLang="en-US" sz="3200" b="1" dirty="0">
                <a:gradFill>
                  <a:gsLst>
                    <a:gs pos="17000">
                      <a:srgbClr val="0B5673"/>
                    </a:gs>
                    <a:gs pos="100000">
                      <a:srgbClr val="0B5673"/>
                    </a:gs>
                  </a:gsLst>
                  <a:lin ang="0" scaled="0"/>
                </a:gradFill>
                <a:latin typeface="微软雅黑" panose="020B0703020204020201" charset="-122"/>
                <a:ea typeface="微软雅黑" panose="020B0703020204020201" charset="-122"/>
                <a:cs typeface="方正汉真广标简体" panose="02000000000000000000" charset="-122"/>
                <a:sym typeface="微软雅黑" panose="020B0703020204020201" charset="-122"/>
              </a:rPr>
            </a:br>
            <a:r>
              <a:rPr kumimoji="1" lang="zh-CN" altLang="en-US" sz="2400" b="1" dirty="0">
                <a:solidFill>
                  <a:srgbClr val="0B5673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分享人：</a:t>
            </a:r>
            <a:r>
              <a:rPr kumimoji="1" lang="en-US" altLang="zh-CN" sz="2400" b="1" dirty="0">
                <a:solidFill>
                  <a:srgbClr val="0B5673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 </a:t>
            </a:r>
            <a:r>
              <a:rPr kumimoji="1" lang="zh-CN" altLang="en-US" sz="2400" b="1" dirty="0">
                <a:solidFill>
                  <a:srgbClr val="0B5673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格尔软件安全网关</a:t>
            </a:r>
            <a:r>
              <a:rPr kumimoji="1" lang="zh-CN" altLang="en-US" sz="2400" b="1" dirty="0">
                <a:solidFill>
                  <a:srgbClr val="0B5673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团队－贺红杰</a:t>
            </a:r>
            <a:endParaRPr kumimoji="1" lang="zh-CN" altLang="en-US" sz="3200" b="1" dirty="0">
              <a:solidFill>
                <a:srgbClr val="0B5673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  <a:p>
            <a:pPr algn="dist"/>
            <a:endParaRPr lang="zh-CN" altLang="en-US" sz="3200" b="1" dirty="0">
              <a:gradFill>
                <a:gsLst>
                  <a:gs pos="17000">
                    <a:srgbClr val="0B5673"/>
                  </a:gs>
                  <a:gs pos="100000">
                    <a:srgbClr val="0B5673"/>
                  </a:gs>
                </a:gsLst>
                <a:lin ang="0" scaled="0"/>
              </a:gradFill>
              <a:latin typeface="微软雅黑" panose="020B0703020204020201" charset="-122"/>
              <a:ea typeface="微软雅黑" panose="020B0703020204020201" charset="-122"/>
              <a:cs typeface="方正汉真广标简体" panose="02000000000000000000" charset="-122"/>
              <a:sym typeface="微软雅黑" panose="020B07030202040202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17900" y="230505"/>
            <a:ext cx="5286375" cy="747326"/>
            <a:chOff x="5319" y="2421"/>
            <a:chExt cx="6738" cy="880"/>
          </a:xfrm>
        </p:grpSpPr>
        <p:pic>
          <p:nvPicPr>
            <p:cNvPr id="8" name="图片 7" descr="蜜蜂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19" y="2421"/>
              <a:ext cx="1905" cy="722"/>
            </a:xfrm>
            <a:prstGeom prst="rect">
              <a:avLst/>
            </a:prstGeom>
          </p:spPr>
        </p:pic>
        <p:grpSp>
          <p:nvGrpSpPr>
            <p:cNvPr id="2" name="组合 1"/>
            <p:cNvGrpSpPr/>
            <p:nvPr/>
          </p:nvGrpSpPr>
          <p:grpSpPr>
            <a:xfrm>
              <a:off x="7143" y="2421"/>
              <a:ext cx="4914" cy="880"/>
              <a:chOff x="6742" y="2420"/>
              <a:chExt cx="4914" cy="880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6742" y="2420"/>
                <a:ext cx="491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 spc="300" dirty="0">
                    <a:solidFill>
                      <a:schemeClr val="bg1"/>
                    </a:solidFill>
                    <a:latin typeface="+mn-ea"/>
                    <a:cs typeface="+mn-ea"/>
                  </a:rPr>
                  <a:t>第</a:t>
                </a:r>
                <a:r>
                  <a:rPr lang="zh-CN" altLang="en-US" b="1" spc="300" dirty="0">
                    <a:solidFill>
                      <a:schemeClr val="bg1"/>
                    </a:solidFill>
                    <a:latin typeface="+mn-ea"/>
                    <a:cs typeface="+mn-ea"/>
                  </a:rPr>
                  <a:t>三届</a:t>
                </a:r>
                <a:r>
                  <a:rPr lang="en-US" altLang="zh-CN" b="1" spc="300" dirty="0">
                    <a:solidFill>
                      <a:schemeClr val="bg1"/>
                    </a:solidFill>
                    <a:latin typeface="+mn-ea"/>
                    <a:cs typeface="+mn-ea"/>
                  </a:rPr>
                  <a:t> </a:t>
                </a:r>
                <a:r>
                  <a:rPr lang="en-US" altLang="zh-CN" b="1" spc="300" dirty="0" err="1">
                    <a:solidFill>
                      <a:schemeClr val="bg1"/>
                    </a:solidFill>
                    <a:latin typeface="+mn-ea"/>
                    <a:cs typeface="+mn-ea"/>
                  </a:rPr>
                  <a:t>eBPF</a:t>
                </a:r>
                <a:r>
                  <a:rPr lang="zh-CN" altLang="en-US" b="1" spc="300" dirty="0" err="1">
                    <a:solidFill>
                      <a:schemeClr val="bg1"/>
                    </a:solidFill>
                    <a:latin typeface="+mn-ea"/>
                    <a:cs typeface="+mn-ea"/>
                  </a:rPr>
                  <a:t>开发者大</a:t>
                </a:r>
                <a:r>
                  <a:rPr lang="zh-CN" altLang="en-US" b="1" spc="300" dirty="0">
                    <a:solidFill>
                      <a:schemeClr val="bg1"/>
                    </a:solidFill>
                    <a:latin typeface="+mn-ea"/>
                    <a:cs typeface="+mn-ea"/>
                  </a:rPr>
                  <a:t>会</a:t>
                </a:r>
                <a:endParaRPr lang="zh-CN" altLang="en-US" b="1" spc="300" dirty="0">
                  <a:solidFill>
                    <a:schemeClr val="bg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7279" y="2903"/>
                <a:ext cx="3797" cy="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dist"/>
                <a:r>
                  <a:rPr lang="en-US" altLang="zh-CN" sz="1600" u="sng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www.ebpftravel.com</a:t>
                </a:r>
                <a:endParaRPr lang="en-US" altLang="zh-CN" sz="16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5657850" y="5881370"/>
            <a:ext cx="1511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>
                <a:solidFill>
                  <a:schemeClr val="bg1"/>
                </a:solidFill>
              </a:rPr>
              <a:t>中国</a:t>
            </a:r>
            <a:r>
              <a:rPr lang="en-US" altLang="zh-CN" sz="2000" b="1">
                <a:solidFill>
                  <a:schemeClr val="bg1"/>
                </a:solidFill>
              </a:rPr>
              <a:t>·</a:t>
            </a:r>
            <a:r>
              <a:rPr lang="zh-CN" altLang="en-US" sz="2000" b="1">
                <a:solidFill>
                  <a:schemeClr val="bg1"/>
                </a:solidFill>
              </a:rPr>
              <a:t>西安</a:t>
            </a:r>
            <a:endParaRPr lang="zh-CN" altLang="en-US" sz="2000" b="1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74065" y="1671320"/>
            <a:ext cx="10897870" cy="5061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Nginx作为广泛使用的高性能Web服务器，随着应用复杂性的不断增加，为了保障系统的稳定可靠运行，实现对其内部状态的实时监控和对故障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的快速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定位越发重要。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运维痛点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 sz="1600">
                <a:solidFill>
                  <a:schemeClr val="bg1"/>
                </a:solidFill>
              </a:rPr>
              <a:t>　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• </a:t>
            </a:r>
            <a:r>
              <a:rPr lang="zh-CN" altLang="en-US" sz="1600">
                <a:solidFill>
                  <a:schemeClr val="bg1"/>
                </a:solidFill>
              </a:rPr>
              <a:t>监控指标不足</a:t>
            </a:r>
            <a:endParaRPr lang="zh-CN" altLang="en-US" sz="1600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</a:rPr>
              <a:t>🔹 基础指标缺失：原生指标覆盖不足，存在大量指标缺失（如SSL握手耗时、SSL Session尺寸）  </a:t>
            </a:r>
            <a:endParaRPr lang="zh-CN" altLang="en-US" sz="1200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</a:rPr>
              <a:t>🔹 隐形指标缺失：一些性能相关问题需要观测函数级别的处理耗时，原生并不支持</a:t>
            </a:r>
            <a:endParaRPr lang="zh-CN" altLang="en-US" sz="1200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</a:rPr>
              <a:t>🔹 指标关联断层：内核态处理（如TCP建立）与Nginx用户态处理（Accept）难以联动分析</a:t>
            </a:r>
            <a:endParaRPr lang="zh-CN" altLang="en-US" sz="1200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endParaRPr lang="zh-CN" altLang="en-US" sz="12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1600">
                <a:solidFill>
                  <a:schemeClr val="bg1"/>
                </a:solidFill>
              </a:rPr>
              <a:t>　• 排障效率低下</a:t>
            </a:r>
            <a:endParaRPr lang="zh-CN" altLang="en-US" sz="16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</a:rPr>
              <a:t>  　　🔹 请求链路黑盒化：  难以追踪单个请求在Nginx内部的完整生命周期（特别是从内核TCP建连到</a:t>
            </a:r>
            <a:r>
              <a:rPr lang="en-US" altLang="zh-CN" sz="1200">
                <a:solidFill>
                  <a:schemeClr val="bg1"/>
                </a:solidFill>
              </a:rPr>
              <a:t>Nginx</a:t>
            </a:r>
            <a:r>
              <a:rPr lang="zh-CN" altLang="en-US" sz="1200">
                <a:solidFill>
                  <a:schemeClr val="bg1"/>
                </a:solidFill>
              </a:rPr>
              <a:t>请求响应</a:t>
            </a:r>
            <a:r>
              <a:rPr lang="zh-CN" altLang="en-US" sz="1200">
                <a:solidFill>
                  <a:schemeClr val="bg1"/>
                </a:solidFill>
              </a:rPr>
              <a:t>处理）  </a:t>
            </a:r>
            <a:endParaRPr lang="zh-CN" altLang="en-US" sz="12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</a:rPr>
              <a:t>  　　🔹 偶发故障难复现：  只在特定环境下偶发的问题排查定位十分困难（如</a:t>
            </a:r>
            <a:r>
              <a:rPr lang="en-US" altLang="zh-CN" sz="1200">
                <a:solidFill>
                  <a:schemeClr val="bg1"/>
                </a:solidFill>
              </a:rPr>
              <a:t>ssl session</a:t>
            </a:r>
            <a:r>
              <a:rPr lang="zh-CN" altLang="en-US" sz="1200">
                <a:solidFill>
                  <a:schemeClr val="bg1"/>
                </a:solidFill>
              </a:rPr>
              <a:t>偶发性创建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失败</a:t>
            </a:r>
            <a:r>
              <a:rPr lang="zh-CN" altLang="en-US" sz="1200">
                <a:solidFill>
                  <a:schemeClr val="bg1"/>
                </a:solidFill>
              </a:rPr>
              <a:t>）</a:t>
            </a:r>
            <a:r>
              <a:rPr lang="zh-CN" altLang="en-US" sz="1400">
                <a:solidFill>
                  <a:schemeClr val="bg1"/>
                </a:solidFill>
              </a:rPr>
              <a:t>  </a:t>
            </a:r>
            <a:endParaRPr lang="zh-CN" altLang="en-US" sz="14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</a:rPr>
              <a:t>    　　　　 </a:t>
            </a:r>
            <a:endParaRPr lang="zh-CN" altLang="en-US" sz="14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243"/>
            <a:ext cx="3541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+mn-ea"/>
                <a:cs typeface="+mn-ea"/>
                <a:sym typeface="+mn-ea"/>
              </a:rPr>
              <a:t>问题背景与挑战</a:t>
            </a:r>
            <a:endParaRPr lang="zh-CN" altLang="en-US" sz="3200" b="1" dirty="0" err="1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74065" y="1671320"/>
            <a:ext cx="11217910" cy="3721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　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• 应对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监控指标不足</a:t>
            </a:r>
            <a:endParaRPr lang="zh-CN" altLang="en-US" sz="2000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🔹 定制扩展指标：常规性指标缺失，可以通过扩展源码或使用第三方模块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来实现支持 </a:t>
            </a:r>
            <a:endParaRPr lang="zh-CN" altLang="en-US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🔹 隐形指标缺失：临时修改代码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来添加指标，费时费力</a:t>
            </a:r>
            <a:endParaRPr lang="zh-CN" altLang="en-US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🔹 指标关联断层：</a:t>
            </a:r>
            <a:endParaRPr lang="zh-CN" altLang="en-US">
              <a:solidFill>
                <a:schemeClr val="bg1"/>
              </a:solidFill>
            </a:endParaRPr>
          </a:p>
          <a:p>
            <a:pPr lvl="1"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　• 排障效率低下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    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🔹 请求链路黑盒化：依赖于运行日志观察请求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链路，由于数据量巨大，从中追踪单个请求让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人痛不欲生 </a:t>
            </a:r>
            <a:endParaRPr lang="zh-CN" altLang="en-US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sym typeface="+mn-ea"/>
              </a:rPr>
              <a:t>  　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🔹 偶发故障难复现： 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243"/>
            <a:ext cx="3541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传统方案局限性</a:t>
            </a:r>
            <a:endParaRPr lang="zh-CN" altLang="en-US" sz="2800" b="1" dirty="0" err="1">
              <a:solidFill>
                <a:schemeClr val="bg1"/>
              </a:solidFill>
              <a:latin typeface="Microsoft YaHei Bold" panose="020B0703020204020201" charset="-122"/>
              <a:ea typeface="Microsoft YaHei Bold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pic>
        <p:nvPicPr>
          <p:cNvPr id="7" name="图片 6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515" y="3171825"/>
            <a:ext cx="413385" cy="405765"/>
          </a:xfrm>
          <a:prstGeom prst="rect">
            <a:avLst/>
          </a:prstGeom>
        </p:spPr>
      </p:pic>
      <p:pic>
        <p:nvPicPr>
          <p:cNvPr id="8" name="图片 7" descr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24555" y="4649470"/>
            <a:ext cx="413385" cy="405765"/>
          </a:xfrm>
          <a:prstGeom prst="rect">
            <a:avLst/>
          </a:prstGeom>
        </p:spPr>
      </p:pic>
      <p:pic>
        <p:nvPicPr>
          <p:cNvPr id="12" name="图片 11" descr="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1925" y="4267200"/>
            <a:ext cx="506095" cy="4711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零侵入：动态Hook Nginx内部函数，无需修改源码，能够很好地解决监控指标缺失问题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广覆盖：通过同时追踪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内核态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 +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用户态连接请求处理全过程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能够应对指标关联断层问题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低开销：观测过程不影响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正常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业务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，对偶发性故障可以做到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7x24小时观测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高安全：观测操作不会导致内核崩溃进而引发业务故障，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便于在生产环境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使用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kumimoji="1" lang="zh-CN" altLang="en-US" sz="2000" b="1" dirty="0">
              <a:solidFill>
                <a:srgbClr val="0070C0"/>
              </a:solidFill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kumimoji="1" lang="zh-CN" altLang="en-US" sz="2000" b="1" dirty="0">
              <a:solidFill>
                <a:srgbClr val="0070C0"/>
              </a:solidFill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243"/>
            <a:ext cx="3541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eBPF方案优势</a:t>
            </a:r>
            <a:endParaRPr lang="zh-CN" altLang="en-US" sz="2800" b="1" dirty="0" err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如何解析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自定义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结构？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　　　Nginx内部自定义了许多结构（如ngx_http_request_t），要怎样方便地观测到特定结构的特定字段（如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r-&gt;uri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）？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如何观测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全局变量？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1400">
                <a:solidFill>
                  <a:schemeClr val="bg1"/>
                </a:solidFill>
                <a:sym typeface="+mn-ea"/>
              </a:rPr>
              <a:t>　　　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Nginx全局变量并不总是作为函数入参与返回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值，要怎样观测全局变量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（如ngx_accept_mutex_held）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？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如何观测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局部变量？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zh-CN" altLang="en-US" sz="2000">
                <a:solidFill>
                  <a:schemeClr val="bg1"/>
                </a:solidFill>
                <a:sym typeface="+mn-ea"/>
              </a:rPr>
              <a:t>　　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Nginx局部变量存储在栈/寄存器中，且生命周期仅限于函数上下文，要怎样观测局部变量（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如ssl_session）？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……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kumimoji="1" lang="zh-CN" altLang="en-US" sz="2000" b="1" dirty="0">
              <a:solidFill>
                <a:srgbClr val="0070C0"/>
              </a:solidFill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kumimoji="1" lang="zh-CN" altLang="en-US" sz="2000" b="1" dirty="0">
              <a:solidFill>
                <a:srgbClr val="0070C0"/>
              </a:solidFill>
              <a:latin typeface="微软雅黑" panose="020B0703020204020201" charset="-122"/>
              <a:ea typeface="微软雅黑" panose="020B0703020204020201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243"/>
            <a:ext cx="3541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eBPF方案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挑战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</a:rPr>
              <a:t>往常方法是通过</a:t>
            </a:r>
            <a:r>
              <a:rPr lang="en-US" altLang="zh-CN" sz="2000">
                <a:solidFill>
                  <a:schemeClr val="bg1"/>
                </a:solidFill>
              </a:rPr>
              <a:t>mock</a:t>
            </a:r>
            <a:r>
              <a:rPr lang="zh-CN" altLang="en-US" sz="2000">
                <a:solidFill>
                  <a:schemeClr val="bg1"/>
                </a:solidFill>
              </a:rPr>
              <a:t>方式简化结构定义：结构成员间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深层</a:t>
            </a:r>
            <a:r>
              <a:rPr lang="zh-CN" altLang="en-US" sz="2000">
                <a:solidFill>
                  <a:schemeClr val="bg1"/>
                </a:solidFill>
              </a:rPr>
              <a:t>嵌套时特别麻烦</a:t>
            </a:r>
            <a:br>
              <a:rPr lang="zh-CN" altLang="en-US" sz="2000">
                <a:solidFill>
                  <a:schemeClr val="bg1"/>
                </a:solidFill>
              </a:rPr>
            </a:br>
            <a:br>
              <a:rPr lang="zh-CN" altLang="en-US" sz="2000">
                <a:solidFill>
                  <a:schemeClr val="bg1"/>
                </a:solidFill>
              </a:rPr>
            </a:b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内核追踪可以直接引用相应头文件，用户态对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的追踪能不能做到类似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效果？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560"/>
            <a:ext cx="392176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解析</a:t>
            </a:r>
            <a:r>
              <a:rPr lang="en-US" altLang="zh-CN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Nginx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自定义结构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635" y="2261235"/>
            <a:ext cx="5055235" cy="1753235"/>
          </a:xfrm>
          <a:prstGeom prst="rect">
            <a:avLst/>
          </a:prstGeom>
          <a:solidFill>
            <a:schemeClr val="bg1">
              <a:lumMod val="95000"/>
              <a:alpha val="19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struct ngx_http_request_s {</a:t>
            </a:r>
            <a:endParaRPr lang="zh-CN" altLang="en-US"/>
          </a:p>
          <a:p>
            <a:r>
              <a:rPr lang="zh-CN" altLang="en-US"/>
              <a:t>    uint32_t          signature;         </a:t>
            </a:r>
            <a:endParaRPr lang="zh-CN" altLang="en-US"/>
          </a:p>
          <a:p>
            <a:r>
              <a:rPr lang="zh-CN" altLang="en-US"/>
              <a:t>    void             </a:t>
            </a:r>
            <a:r>
              <a:rPr lang="en-US" altLang="zh-CN"/>
              <a:t>  </a:t>
            </a:r>
            <a:r>
              <a:rPr lang="zh-CN" altLang="en-US"/>
              <a:t>*connection;</a:t>
            </a:r>
            <a:br>
              <a:rPr lang="zh-CN" altLang="en-US"/>
            </a:br>
            <a:r>
              <a:rPr lang="en-US" altLang="zh-CN"/>
              <a:t>    </a:t>
            </a:r>
            <a:r>
              <a:rPr lang="zh-CN" altLang="en-US"/>
              <a:t>ngx_str_t        uri;</a:t>
            </a:r>
            <a:endParaRPr lang="zh-CN" altLang="en-US"/>
          </a:p>
          <a:p>
            <a:r>
              <a:rPr lang="zh-CN" altLang="en-US"/>
              <a:t>    ...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</p:txBody>
      </p:sp>
      <p:pic>
        <p:nvPicPr>
          <p:cNvPr id="7" name="图片 6" descr="思考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055" y="3935730"/>
            <a:ext cx="520065" cy="53594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50900" y="4509770"/>
            <a:ext cx="10528935" cy="1899920"/>
          </a:xfrm>
          <a:prstGeom prst="rect">
            <a:avLst/>
          </a:prstGeom>
          <a:solidFill>
            <a:schemeClr val="bg1">
              <a:lumMod val="95000"/>
              <a:alpha val="19000"/>
            </a:schemeClr>
          </a:solidFill>
        </p:spPr>
        <p:txBody>
          <a:bodyPr wrap="square" rtlCol="0">
            <a:noAutofit/>
          </a:bodyPr>
          <a:p>
            <a:r>
              <a:rPr lang="zh-CN" altLang="en-US" sz="1600"/>
              <a:t>/lib/modules/6.12.13-amd64/source/include/linux/types.h:20:26: error: typedef redefinition with different types ('__kernel_fd_set' vs 'struct fd_set')</a:t>
            </a:r>
            <a:endParaRPr lang="zh-CN" altLang="en-US" sz="1600"/>
          </a:p>
          <a:p>
            <a:r>
              <a:rPr lang="zh-CN" altLang="en-US" sz="1600"/>
              <a:t>/usr/include/x86_64-linux-gnu/sys/select.h:70:5: note: previous definition is here</a:t>
            </a:r>
            <a:endParaRPr lang="zh-CN" altLang="en-US" sz="1600"/>
          </a:p>
          <a:p>
            <a:r>
              <a:rPr lang="zh-CN" altLang="en-US" sz="1600"/>
              <a:t>/lib/modules/6.12.13-amd64/source/include/linux/types.h:21:25: error: typedef redefinition with different types ('__kernel_dev_t' (aka 'unsigned int') vs '__dev_t' (aka 'uns</a:t>
            </a:r>
            <a:endParaRPr lang="zh-CN" altLang="en-US" sz="1600"/>
          </a:p>
          <a:p>
            <a:r>
              <a:rPr lang="zh-CN" altLang="en-US" sz="1600"/>
              <a:t>igned long'))</a:t>
            </a:r>
            <a:br>
              <a:rPr lang="zh-CN" altLang="en-US" sz="1600"/>
            </a:br>
            <a:r>
              <a:rPr lang="en-US" altLang="zh-CN" sz="1600"/>
              <a:t>...</a:t>
            </a:r>
            <a:endParaRPr lang="en-US" altLang="zh-CN" sz="1600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要做到能够引用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头文件，必须首先解决与内核头文件存在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的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冲突，对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Nginx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原始头文件进行一些调整，比如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r>
              <a:rPr lang="en-US" altLang="zh-CN" sz="1600">
                <a:solidFill>
                  <a:schemeClr val="bg1"/>
                </a:solidFill>
                <a:sym typeface="+mn-ea"/>
              </a:rPr>
              <a:t>-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需要引入limits.h，以完成对各类数据类型的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范围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限制定义，避免查到内核态定义造成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冲突</a:t>
            </a:r>
            <a:br>
              <a:rPr lang="zh-CN" altLang="en-US" sz="1600">
                <a:solidFill>
                  <a:schemeClr val="bg1"/>
                </a:solidFill>
                <a:sym typeface="+mn-ea"/>
              </a:rPr>
            </a:br>
            <a:r>
              <a:rPr lang="en-US" altLang="zh-CN" sz="1600">
                <a:solidFill>
                  <a:schemeClr val="bg1"/>
                </a:solidFill>
                <a:sym typeface="+mn-ea"/>
              </a:rPr>
              <a:t>- 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移除一些对追踪而言不必要的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头文件引用，如：#include &lt;netinet/in.h&gt;</a:t>
            </a:r>
            <a:endParaRPr lang="zh-CN" altLang="en-US" sz="16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600">
                <a:solidFill>
                  <a:schemeClr val="bg1"/>
                </a:solidFill>
              </a:rPr>
              <a:t>...</a:t>
            </a:r>
            <a:endParaRPr lang="zh-CN" altLang="en-US" sz="16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560"/>
            <a:ext cx="392176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解析</a:t>
            </a:r>
            <a:r>
              <a:rPr lang="en-US" altLang="zh-CN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Nginx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自定义结构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2965" y="3507740"/>
            <a:ext cx="10528935" cy="3101340"/>
          </a:xfrm>
          <a:prstGeom prst="rect">
            <a:avLst/>
          </a:prstGeom>
          <a:solidFill>
            <a:schemeClr val="bg1">
              <a:lumMod val="95000"/>
              <a:alpha val="19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200"/>
              <a:t>#!/usr/bin/env bpftrace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#include &lt;ngx_config.h&gt;</a:t>
            </a:r>
            <a:endParaRPr lang="en-US" altLang="zh-CN" sz="1200"/>
          </a:p>
          <a:p>
            <a:r>
              <a:rPr lang="en-US" altLang="zh-CN" sz="1200"/>
              <a:t>#include &lt;ngx_core.h&gt;</a:t>
            </a:r>
            <a:endParaRPr lang="en-US" altLang="zh-CN" sz="1200"/>
          </a:p>
          <a:p>
            <a:r>
              <a:rPr lang="en-US" altLang="zh-CN" sz="1200"/>
              <a:t>#include &lt;ngx_http.h&gt;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//追踪探测函数入口实例演示：追踪解析请求</a:t>
            </a:r>
            <a:endParaRPr lang="en-US" altLang="zh-CN" sz="1200"/>
          </a:p>
          <a:p>
            <a:r>
              <a:rPr lang="en-US" altLang="zh-CN" sz="1200"/>
              <a:t>uprobe:/opt/nginx/sbin/nginx:ngx_http_process_request</a:t>
            </a:r>
            <a:endParaRPr lang="en-US" altLang="zh-CN" sz="1200"/>
          </a:p>
          <a:p>
            <a:r>
              <a:rPr lang="en-US" altLang="zh-CN" sz="1200"/>
              <a:t>{</a:t>
            </a:r>
            <a:endParaRPr lang="en-US" altLang="zh-CN" sz="1200"/>
          </a:p>
          <a:p>
            <a:r>
              <a:rPr lang="en-US" altLang="zh-CN" sz="1200"/>
              <a:t>    $r = (struct ngx_http_request_s *) arg0;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 printf("%s(%d): %s\n", comm, pid, str($r-&gt;uri.data, $r-&gt;uri.len+1));</a:t>
            </a:r>
            <a:endParaRPr lang="en-US" altLang="zh-CN" sz="1200"/>
          </a:p>
          <a:p>
            <a:r>
              <a:rPr lang="en-US" altLang="zh-CN" sz="1200"/>
              <a:t>}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 i="1"/>
              <a:t># </a:t>
            </a:r>
            <a:r>
              <a:rPr lang="en-US" altLang="zh-CN" sz="1200" i="1">
                <a:latin typeface="Arial Bold" panose="020B0604020202090204" charset="0"/>
                <a:cs typeface="Arial Bold" panose="020B0604020202090204" charset="0"/>
              </a:rPr>
              <a:t>sudo bpftrace -I nginx_headers ngx_http_process_request.bt</a:t>
            </a:r>
            <a:endParaRPr lang="en-US" altLang="zh-CN" sz="1200"/>
          </a:p>
          <a:p>
            <a:r>
              <a:rPr lang="en-US" altLang="zh-CN" sz="1200"/>
              <a:t>nginx(2745892): /demo</a:t>
            </a:r>
            <a:endParaRPr lang="en-US" altLang="zh-CN" sz="1200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由于全局变量不总作为函数入参与返回值存在，并且其地址会随ASLR（地址空间随机化）发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生变化，对全局变量的追踪需要采用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base+offset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的方式</a:t>
            </a: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560"/>
            <a:ext cx="392176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观测</a:t>
            </a:r>
            <a:r>
              <a:rPr lang="en-US" altLang="zh-CN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Nginx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全局变量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2965" y="2631440"/>
            <a:ext cx="10528935" cy="4015740"/>
          </a:xfrm>
          <a:prstGeom prst="rect">
            <a:avLst/>
          </a:prstGeom>
          <a:solidFill>
            <a:schemeClr val="bg1">
              <a:lumMod val="95000"/>
              <a:alpha val="19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200"/>
              <a:t>#!/usr/bin/env bpftrace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#include &lt;ngx_config.h&gt;</a:t>
            </a:r>
            <a:endParaRPr lang="en-US" altLang="zh-CN" sz="1200"/>
          </a:p>
          <a:p>
            <a:r>
              <a:rPr lang="en-US" altLang="zh-CN" sz="1200"/>
              <a:t>#include &lt;ngx_core.h&gt;</a:t>
            </a:r>
            <a:endParaRPr lang="en-US" altLang="zh-CN" sz="1200"/>
          </a:p>
          <a:p>
            <a:r>
              <a:rPr lang="en-US" altLang="zh-CN" sz="1200"/>
              <a:t>#include &lt;ngx_event.h&gt;</a:t>
            </a:r>
            <a:endParaRPr lang="en-US" altLang="zh-CN" sz="1200"/>
          </a:p>
          <a:p>
            <a:r>
              <a:rPr lang="en-US" altLang="zh-CN" sz="1200"/>
              <a:t>#include &lt;ngx_event_openssl.h&gt;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//追踪探测全局变量实例演示：探测ngx_accept_mutex锁在nginx worker间的持有情况</a:t>
            </a:r>
            <a:endParaRPr lang="en-US" altLang="zh-CN" sz="1200"/>
          </a:p>
          <a:p>
            <a:r>
              <a:rPr lang="en-US" altLang="zh-CN" sz="1200"/>
              <a:t>uprobe:/opt/nginx/sbin/nginx:ngx_trylock_accept_mutex</a:t>
            </a:r>
            <a:endParaRPr lang="en-US" altLang="zh-CN" sz="1200"/>
          </a:p>
          <a:p>
            <a:r>
              <a:rPr lang="en-US" altLang="zh-CN" sz="1200"/>
              <a:t>{</a:t>
            </a:r>
            <a:endParaRPr lang="en-US" altLang="zh-CN" sz="1200"/>
          </a:p>
          <a:p>
            <a:r>
              <a:rPr lang="en-US" altLang="zh-CN" sz="1200"/>
              <a:t>    //head -1 /proc/$(pidof nginx)/maps | awk -F'-' '{print $1}'</a:t>
            </a:r>
            <a:endParaRPr lang="en-US" altLang="zh-CN" sz="1200"/>
          </a:p>
          <a:p>
            <a:r>
              <a:rPr lang="en-US" altLang="zh-CN" sz="1200"/>
              <a:t>    </a:t>
            </a:r>
            <a:r>
              <a:rPr lang="en-US" altLang="zh-CN" sz="1200">
                <a:sym typeface="+mn-ea"/>
              </a:rPr>
              <a:t>$base = (uint64)0x562bc6c45000;  </a:t>
            </a:r>
            <a:endParaRPr lang="en-US" altLang="zh-CN" sz="1200"/>
          </a:p>
          <a:p>
            <a:r>
              <a:rPr lang="en-US" altLang="zh-CN" sz="1200"/>
              <a:t>    $ngx_accept_mutex_held_offset = (uint32)uaddr("ngx_accept_mutex_held");</a:t>
            </a:r>
            <a:endParaRPr lang="en-US" altLang="zh-CN" sz="1200"/>
          </a:p>
          <a:p>
            <a:r>
              <a:rPr lang="en-US" altLang="zh-CN" sz="1200"/>
              <a:t>    $ngx_accept_mutex_held = *(uint64*)($base + $ngx_accept_mutex_held_offset);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</a:t>
            </a:r>
            <a:r>
              <a:rPr lang="en-US" altLang="zh-CN" sz="1200">
                <a:sym typeface="+mn-ea"/>
              </a:rPr>
              <a:t> printf("%s(%d): </a:t>
            </a:r>
            <a:r>
              <a:rPr lang="en-US" altLang="zh-CN" sz="1200"/>
              <a:t>%d\n", </a:t>
            </a:r>
            <a:r>
              <a:rPr lang="en-US" altLang="zh-CN" sz="1200">
                <a:sym typeface="+mn-ea"/>
              </a:rPr>
              <a:t> comm, </a:t>
            </a:r>
            <a:r>
              <a:rPr lang="en-US" altLang="zh-CN" sz="1200"/>
              <a:t>pid, $ngx_accept_mutex_held);</a:t>
            </a:r>
            <a:endParaRPr lang="en-US" altLang="zh-CN" sz="1200"/>
          </a:p>
          <a:p>
            <a:r>
              <a:rPr lang="en-US" altLang="zh-CN" sz="1200"/>
              <a:t>}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 b="1" i="1">
                <a:latin typeface="Arial Bold Italic" panose="020B0604020202090204" charset="0"/>
                <a:cs typeface="Arial Bold Italic" panose="020B0604020202090204" charset="0"/>
              </a:rPr>
              <a:t># sudo bpftrace -I nginx_headers ngx_accept_mutex.bt</a:t>
            </a:r>
            <a:endParaRPr lang="en-US" altLang="zh-CN" sz="1200" i="1"/>
          </a:p>
          <a:p>
            <a:r>
              <a:rPr lang="en-US" altLang="zh-CN" sz="1200"/>
              <a:t>nginx(2745893): 0</a:t>
            </a:r>
            <a:endParaRPr lang="en-US" altLang="zh-CN" sz="1200"/>
          </a:p>
          <a:p>
            <a:r>
              <a:rPr lang="en-US" altLang="zh-CN" sz="1200"/>
              <a:t>nginx(2745892): 1</a:t>
            </a:r>
            <a:endParaRPr lang="en-US" altLang="zh-CN" sz="1200"/>
          </a:p>
        </p:txBody>
      </p:sp>
      <p:pic>
        <p:nvPicPr>
          <p:cNvPr id="6" name="图片 5" descr="ngx_trylock_accept_mutex"/>
          <p:cNvPicPr>
            <a:picLocks noChangeAspect="1"/>
          </p:cNvPicPr>
          <p:nvPr/>
        </p:nvPicPr>
        <p:blipFill>
          <a:blip r:embed="rId5"/>
          <a:srcRect r="11771"/>
          <a:stretch>
            <a:fillRect/>
          </a:stretch>
        </p:blipFill>
        <p:spPr>
          <a:xfrm>
            <a:off x="7391400" y="2631440"/>
            <a:ext cx="3921760" cy="40817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由于局部变量不作为函数入参与返回值存在，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且生命周期仅限于函数上下文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，但其值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存储在栈或寄存器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中，因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此可以通过栈与寄存器来实现对局部变量的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追踪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560"/>
            <a:ext cx="392176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观测</a:t>
            </a:r>
            <a:r>
              <a:rPr lang="en-US" altLang="zh-CN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Nginx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局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部变量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62965" y="2631440"/>
            <a:ext cx="10528935" cy="4091940"/>
          </a:xfrm>
          <a:prstGeom prst="rect">
            <a:avLst/>
          </a:prstGeom>
          <a:solidFill>
            <a:schemeClr val="bg1">
              <a:lumMod val="95000"/>
              <a:alpha val="19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200"/>
              <a:t>#!/usr/bin/env bpftrace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#include &lt;ngx_config.h&gt;</a:t>
            </a:r>
            <a:endParaRPr lang="en-US" altLang="zh-CN" sz="1200"/>
          </a:p>
          <a:p>
            <a:r>
              <a:rPr lang="en-US" altLang="zh-CN" sz="1200"/>
              <a:t>#include &lt;ngx_core.h&gt;</a:t>
            </a:r>
            <a:endParaRPr lang="en-US" altLang="zh-CN" sz="1200"/>
          </a:p>
          <a:p>
            <a:r>
              <a:rPr lang="en-US" altLang="zh-CN" sz="1200"/>
              <a:t>#include &lt;ngx_event.h&gt;</a:t>
            </a:r>
            <a:endParaRPr lang="en-US" altLang="zh-CN" sz="1200"/>
          </a:p>
          <a:p>
            <a:r>
              <a:rPr lang="en-US" altLang="zh-CN" sz="1200"/>
              <a:t>#include &lt;ngx_event_openssl.h&gt;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//追踪探测局部变量实例演示: 统计ssl session尺寸</a:t>
            </a:r>
            <a:endParaRPr lang="en-US" altLang="zh-CN" sz="1200"/>
          </a:p>
          <a:p>
            <a:r>
              <a:rPr lang="en-US" altLang="zh-CN" sz="1200"/>
              <a:t>uprobe:/opt/nginx/sbin/nginx:ngx_ssl_new_session+712</a:t>
            </a:r>
            <a:endParaRPr lang="en-US" altLang="zh-CN" sz="1200"/>
          </a:p>
          <a:p>
            <a:r>
              <a:rPr lang="en-US" altLang="zh-CN" sz="1200"/>
              <a:t>{</a:t>
            </a:r>
            <a:endParaRPr lang="en-US" altLang="zh-CN" sz="1200"/>
          </a:p>
          <a:p>
            <a:r>
              <a:rPr lang="en-US" altLang="zh-CN" sz="1200"/>
              <a:t>    $sess_id = *(struct ngx_ssl_sess_id_s **)(reg("bp")-32);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$id_len = $sess_id-&gt;len;</a:t>
            </a:r>
            <a:endParaRPr lang="en-US" altLang="zh-CN" sz="1200"/>
          </a:p>
          <a:p>
            <a:r>
              <a:rPr lang="en-US" altLang="zh-CN" sz="1200"/>
              <a:t>    $session_len = (uint8)$sess_id-&gt;node.data;</a:t>
            </a:r>
            <a:endParaRPr lang="en-US" altLang="zh-CN" sz="1200"/>
          </a:p>
          <a:p>
            <a:r>
              <a:rPr lang="en-US" altLang="zh-CN" sz="1200"/>
              <a:t>    $meta_len = sizeof(struct ngx_ssl_sess_id_s);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$total_len = $id_len + $session_len + $meta_len;</a:t>
            </a:r>
            <a:endParaRPr lang="en-US" altLang="zh-CN" sz="1200"/>
          </a:p>
          <a:p>
            <a:r>
              <a:rPr lang="en-US" altLang="zh-CN" sz="1200"/>
              <a:t>    printf("session size: %d = %d + %d + %d \n", $total_len, $id_len, $session_len, $meta_len);</a:t>
            </a:r>
            <a:endParaRPr lang="en-US" altLang="zh-CN" sz="1200"/>
          </a:p>
          <a:p>
            <a:r>
              <a:rPr lang="en-US" altLang="zh-CN" sz="1200"/>
              <a:t>}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 b="1" i="1">
                <a:latin typeface="Arial Bold Italic" panose="020B0604020202090204" charset="0"/>
                <a:cs typeface="Arial Bold Italic" panose="020B0604020202090204" charset="0"/>
              </a:rPr>
              <a:t># </a:t>
            </a:r>
            <a:r>
              <a:rPr lang="en-US" altLang="zh-CN" sz="1200" b="1" i="1">
                <a:latin typeface="Arial Bold Italic" panose="020B0604020202090204" charset="0"/>
                <a:cs typeface="Arial Bold Italic" panose="020B0604020202090204" charset="0"/>
                <a:sym typeface="+mn-ea"/>
              </a:rPr>
              <a:t>sudo bpftrace -I nginx_headers ngx_ssl_sessoin_size.bt</a:t>
            </a:r>
            <a:endParaRPr lang="en-US" altLang="zh-CN" sz="1200"/>
          </a:p>
          <a:p>
            <a:r>
              <a:rPr lang="en-US" altLang="zh-CN" sz="1200"/>
              <a:t>session size: 318 = 158 + 32 + 128</a:t>
            </a:r>
            <a:endParaRPr lang="en-US" altLang="zh-CN" sz="1200"/>
          </a:p>
        </p:txBody>
      </p:sp>
      <p:pic>
        <p:nvPicPr>
          <p:cNvPr id="13" name="图片 12" descr="ngx_ssl_new_sess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890" y="2631440"/>
            <a:ext cx="4347210" cy="33705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74065" y="1671320"/>
            <a:ext cx="10617835" cy="337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</a:rPr>
              <a:t>试用地</a:t>
            </a:r>
            <a:r>
              <a:rPr lang="zh-CN" altLang="en-US" sz="2000">
                <a:solidFill>
                  <a:schemeClr val="bg1"/>
                </a:solidFill>
              </a:rPr>
              <a:t>址：https://github.com/honghaier250/Nginx-With-eBPF</a:t>
            </a: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br>
              <a:rPr lang="zh-CN" altLang="en-US" sz="2000">
                <a:solidFill>
                  <a:schemeClr val="bg1"/>
                </a:solidFill>
                <a:sym typeface="+mn-ea"/>
              </a:rPr>
            </a:b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3" name="图片 2" descr="蜜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" y="102235"/>
            <a:ext cx="869950" cy="329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59315" y="125095"/>
            <a:ext cx="2338549" cy="466725"/>
            <a:chOff x="12922" y="617"/>
            <a:chExt cx="3898" cy="735"/>
          </a:xfrm>
        </p:grpSpPr>
        <p:sp>
          <p:nvSpPr>
            <p:cNvPr id="5" name="文本框 4"/>
            <p:cNvSpPr txBox="1"/>
            <p:nvPr/>
          </p:nvSpPr>
          <p:spPr>
            <a:xfrm>
              <a:off x="12922" y="617"/>
              <a:ext cx="389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第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三届</a:t>
              </a:r>
              <a:r>
                <a:rPr lang="en-US" altLang="zh-CN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eBPF</a:t>
              </a:r>
              <a:r>
                <a:rPr lang="zh-CN" altLang="en-US" sz="1200" b="1" spc="300" dirty="0" err="1">
                  <a:solidFill>
                    <a:schemeClr val="bg1"/>
                  </a:solidFill>
                  <a:latin typeface="+mn-ea"/>
                  <a:cs typeface="+mn-ea"/>
                </a:rPr>
                <a:t>开发者大</a:t>
              </a:r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+mn-ea"/>
                </a:rPr>
                <a:t>会</a:t>
              </a:r>
              <a:endParaRPr lang="zh-CN" altLang="en-US" sz="1200" b="1" spc="3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84" y="918"/>
              <a:ext cx="32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200" u="sng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www.ebpftravel.com</a:t>
              </a:r>
              <a:endParaRPr lang="en-US" altLang="zh-CN" sz="1200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83895" y="670560"/>
            <a:ext cx="392176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14C69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​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试用</a:t>
            </a:r>
            <a:r>
              <a:rPr lang="zh-CN" altLang="en-US" sz="2800" b="1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  <a:cs typeface="微软雅黑" panose="020B0703020204020201" charset="-122"/>
                <a:sym typeface="+mn-ea"/>
              </a:rPr>
              <a:t>交流</a:t>
            </a:r>
            <a:endParaRPr lang="zh-CN" altLang="en-US" sz="2800" b="1">
              <a:solidFill>
                <a:schemeClr val="bg1"/>
              </a:solidFill>
              <a:latin typeface="微软雅黑" panose="020B0703020204020201" charset="-122"/>
              <a:ea typeface="微软雅黑" panose="020B0703020204020201" charset="-122"/>
              <a:cs typeface="微软雅黑" panose="020B07030202040202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498600" y="2678430"/>
            <a:ext cx="267335" cy="27622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4000" b="1">
              <a:solidFill>
                <a:schemeClr val="bg1"/>
              </a:solidFill>
              <a:latin typeface="Calibri" panose="020F0502020204030204" charset="0"/>
            </a:endParaRPr>
          </a:p>
        </p:txBody>
      </p:sp>
      <p:pic>
        <p:nvPicPr>
          <p:cNvPr id="7" name="图片 6" descr="联系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94985" y="3670300"/>
            <a:ext cx="1270000" cy="1270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commondata" val="eyJoZGlkIjoiMzgxNDM0ZDZhNjlmMzE0ZjIxODdjZmQ4NmRmMzRmYTkifQ=="/>
  <p:tag name="KSO_WPP_MARK_KEY" val="14eb654d-7399-4784-9354-7a17879d2073"/>
  <p:tag name="COMMONDATA" val="eyJoZGlkIjoiMGU3MWU3NjU2YjAyNDE5MTA1ZDk5N2Q5NDRmNjRkMm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3994</Words>
  <Application>WPS 表格</Application>
  <PresentationFormat>宽屏</PresentationFormat>
  <Paragraphs>199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方正汉真广标简体</vt:lpstr>
      <vt:lpstr>冬青黑体简体中文</vt:lpstr>
      <vt:lpstr>Times New Roman</vt:lpstr>
      <vt:lpstr>Calibri</vt:lpstr>
      <vt:lpstr>Microsoft YaHei Bold</vt:lpstr>
      <vt:lpstr>Arial Unicode MS</vt:lpstr>
      <vt:lpstr>Helvetica Neue</vt:lpstr>
      <vt:lpstr>Apple Color Emoji</vt:lpstr>
      <vt:lpstr>Arial Bold</vt:lpstr>
      <vt:lpstr>Arial Bold Italic</vt:lpstr>
      <vt:lpstr>Arial Italic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贺红杰</cp:lastModifiedBy>
  <cp:revision>263</cp:revision>
  <dcterms:created xsi:type="dcterms:W3CDTF">2025-04-05T08:36:06Z</dcterms:created>
  <dcterms:modified xsi:type="dcterms:W3CDTF">2025-04-05T08:36:06Z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431CD97F885E5BBEC5D4EC677F6B9F04_43</vt:lpwstr>
  </property>
</Properties>
</file>